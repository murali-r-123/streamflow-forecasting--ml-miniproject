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DB2191-7C73-464A-9FE1-41D5493C38EC}" v="8" dt="2026-10-05T13:29:01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262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the guide. Fill in the team number and guide name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of the talk: problem, reference paper, data, method, setup, results,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models are complex, empirical models rest on assumptions, and peaks are the hardest part. We forecast tomorrow's flow from past rainfall and past flow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as reported in the Stanford CS229 paper by Xiao and You (2020). Standard ANN did better than LSTM, mainly because LSTM was unstable at 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Streamflow from USGS NWIS, rainfall from Daymet, 2003 to 2012, daily. Rainfall is gridded, not a gauge record. Gaps are never interpolated.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stages. Everything is fitted on training data; the test years are used once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years 2008 to 2012 are never used for any model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each __ from results/metrics/metrics_summary.csv and best_config.json after running pipeline.py.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results/figures/hydrograph_comparison.png (and optionally scatter_obs_vs_pred.png).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kept the test years untouched; the reference tuned and reported on the same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summarising and handing over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417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UE24CS352A – ML Mini-Project Review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2286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2860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of Artificial Neural Network in Streamflow Forecasting (Problem 11)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Number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cs typeface="Times New Roman" pitchFamily="34" charset="-120"/>
              </a:rPr>
              <a:t>20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Guide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Prof. Prema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Team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4343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4343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Muralidharan – PES2UG24CS387</a:t>
            </a:r>
            <a:endParaRPr lang="en-US" sz="20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Nikhil K R         – PES2UG24CS815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sp>
        <p:nvSpPr>
          <p:cNvPr id="6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033C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691640" y="1965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914400" y="3063240"/>
            <a:ext cx="548640" cy="548640"/>
          </a:xfrm>
          <a:prstGeom prst="ellipse">
            <a:avLst/>
          </a:prstGeom>
          <a:solidFill>
            <a:srgbClr val="33CCC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144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063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Paper and Background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914400" y="4160520"/>
            <a:ext cx="548640" cy="548640"/>
          </a:xfrm>
          <a:prstGeom prst="ellipse">
            <a:avLst/>
          </a:prstGeom>
          <a:solidFill>
            <a:srgbClr val="0033C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144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33CCC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1440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691640" y="5257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Approach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355080" y="1965960"/>
            <a:ext cx="548640" cy="548640"/>
          </a:xfrm>
          <a:prstGeom prst="ellipse">
            <a:avLst/>
          </a:prstGeom>
          <a:solidFill>
            <a:srgbClr val="0033C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355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132320" y="1965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355080" y="3063240"/>
            <a:ext cx="548640" cy="548640"/>
          </a:xfrm>
          <a:prstGeom prst="ellipse">
            <a:avLst/>
          </a:prstGeom>
          <a:solidFill>
            <a:srgbClr val="33CCC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355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132320" y="3063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355080" y="4160520"/>
            <a:ext cx="548640" cy="548640"/>
          </a:xfrm>
          <a:prstGeom prst="ellipse">
            <a:avLst/>
          </a:prstGeom>
          <a:solidFill>
            <a:srgbClr val="0033C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55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713232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Differences from the Reference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6355080" y="5257800"/>
            <a:ext cx="548640" cy="548640"/>
          </a:xfrm>
          <a:prstGeom prst="ellipse">
            <a:avLst/>
          </a:prstGeom>
          <a:solidFill>
            <a:srgbClr val="33CCC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35508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7132320" y="5257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Work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sp>
        <p:nvSpPr>
          <p:cNvPr id="6" name="Shape 2"/>
          <p:cNvSpPr/>
          <p:nvPr/>
        </p:nvSpPr>
        <p:spPr>
          <a:xfrm>
            <a:off x="329184" y="1783080"/>
            <a:ext cx="1152144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18288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Streamflow forecasting supports flood warning and water resources planning. Streamflow depends on rainfall, past flow and many other factors, so it is hard to predict accurately.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329184" y="33832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12064" y="347472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Physical models are complex</a:t>
            </a:r>
            <a:endParaRPr lang="en-US" sz="2000" dirty="0"/>
          </a:p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Conceptual models represent the runoff mechanism explicitly and need many inputs and calibration.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261104" y="33832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43984" y="347472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08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Empirical models rest on assumptions</a:t>
            </a:r>
            <a:endParaRPr lang="en-US" sz="2000" dirty="0"/>
          </a:p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Their accuracy depends on the assumed form, which may fail under extreme conditions.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193024" y="33832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75904" y="347472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Peak flows are hard to predict</a:t>
            </a:r>
            <a:endParaRPr lang="en-US" sz="2000" dirty="0"/>
          </a:p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Errors concentrate at peaks, yet under-estimating a peak is the costly mistake for flood preparation.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29184" y="5715000"/>
            <a:ext cx="11521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Objective: </a:t>
            </a: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feed-forward ANN that predicts daily streamflow Q(t) at USGS 02472000 (Leaf River near Collins, MS) from past rainfall and past streamflow, and compare it with a persistence baseline and linear regression using a leak-free chronological evaluation.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Paper and Background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sp>
        <p:nvSpPr>
          <p:cNvPr id="6" name="Shape 2"/>
          <p:cNvSpPr/>
          <p:nvPr/>
        </p:nvSpPr>
        <p:spPr>
          <a:xfrm>
            <a:off x="329184" y="18288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29184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8E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0.23%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12064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ANN: overall RMSE relative to max flow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12064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Xiao &amp; You, CS229 (2020)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61104" y="18288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261104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8A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2.43%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4443984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LSTM: overall RMSE relative to max flow, worse at peaks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43984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Xiao &amp; You, CS229 (2020)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93024" y="182880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93024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1.65%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8375904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 relative to max flow reported by Hsu et al.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8375904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Hsu, Gupta &amp; Sorooshian (1995)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29184" y="39776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model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329184" y="4389120"/>
            <a:ext cx="11521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Xiao &amp; You, “Application of Artificial Neural Network in Streamflow Forecasting”, Stanford CS229, Spring 2020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form: Q(t) = f(R(t−1..t−m), Q(t−1..t−n)); 3-layer network, sigmoid hidden layer, linear output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normalised by dividing by the maximum; best model chosen by RMSE; peak threshold 1500 cfs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1874520"/>
          <a:ext cx="1152144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Source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Streamflow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USGS NWIS daily mean discharge (parameter 00060, cfs), site 02472000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Rainfall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Daymet v4 daily precipitation (mm/day), grid cell at the gauge (31.7069, −89.4069)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Period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2003-01-01 to 2012-12-31 (same years as the reference)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Resolution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Daily, one row per calendar day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329184" y="4892040"/>
            <a:ext cx="1152144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handling: </a:t>
            </a: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dates parsed and sorted, duplicates dropped, reindexed to a full daily calendar, negative values set to missing. Daymet has no 31 Dec in leap years (2004, 2008, 2012), so those days are gaps. Rows whose lag window touches a gap are dropped.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Approach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sp>
        <p:nvSpPr>
          <p:cNvPr id="6" name="Shape 2"/>
          <p:cNvSpPr/>
          <p:nvPr/>
        </p:nvSpPr>
        <p:spPr>
          <a:xfrm>
            <a:off x="329184" y="18745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0033C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02336" y="1920240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daily calendar, no interpolation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267712" y="18745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E4FD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2340864" y="1920240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 features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R(t−1..t−m), Q(t−1..t−n)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06240" y="18745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0033C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279392" y="1920240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split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validation / test, no shuffling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44768" y="18745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E4FD8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217920" y="1920240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Divide by train max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83296" y="18745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0033C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56448" y="1920240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ANN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MLP, early stopping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0021824" y="18745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E4FD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094976" y="1920240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years, once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29184" y="352044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EEF3FC"/>
          </a:solidFill>
          <a:ln/>
        </p:spPr>
      </p:sp>
      <p:sp>
        <p:nvSpPr>
          <p:cNvPr id="19" name="Shape 15"/>
          <p:cNvSpPr/>
          <p:nvPr/>
        </p:nvSpPr>
        <p:spPr>
          <a:xfrm>
            <a:off x="6181344" y="352044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EEF3F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48640" y="36118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Sigmoid hidden layer(s), linear output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Adam, MSE loss, learning rate 0.005, batch 32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stopping on validation MSE (max 200 epochs, patience 25)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Baselines: persistence and linear regression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0" y="361188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and scaling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rainfall lags and n flow lags; output is Q(t)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Rainfall and flow scaled separately by training maxima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Scaler fitted on training data only (no leakage)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Hyper-parameters chosen on validation years only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1874520"/>
          <a:ext cx="11521440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2003–2006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 the weights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2007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Grid search and early stopping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2008–2012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evaluation, used once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329184" y="411480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6181344" y="411480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48640" y="4206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Hyper-parameter grid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Rainfall lags m: 2, 3, 5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lags n: 2, 4, 6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Hidden layers: (8), (12), (16), (16, 8)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6400800" y="4206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Protocol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Grid scored on validation RMSE (3 seeds)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model reported over 5 seeds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 day: observed flow above 1500 cfs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Test Set (2008–2012)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247108"/>
              </p:ext>
            </p:extLst>
          </p:nvPr>
        </p:nvGraphicFramePr>
        <p:xfrm>
          <a:off x="329184" y="1874520"/>
          <a:ext cx="11521440" cy="27432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 (NSE)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 peak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 non-peak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Persistence Q(t) = Q(t−1)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278.9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854.8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0.768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2366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213.8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291.5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600.8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0.886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1452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339.5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ANN (best seed)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237.7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587.0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0.891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1528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253.8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ANN (mean of 5 seeds)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272.0</a:t>
                      </a:r>
                      <a:r>
                        <a:rPr lang="en-IN" sz="1600" dirty="0"/>
                        <a:t>±22.6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587.2</a:t>
                      </a:r>
                      <a:r>
                        <a:rPr lang="en-IN" sz="1600" dirty="0"/>
                        <a:t>±10.9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0.891</a:t>
                      </a:r>
                      <a:r>
                        <a:rPr lang="en-IN" sz="1600" dirty="0"/>
                        <a:t>±0.004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1495</a:t>
                      </a:r>
                      <a:r>
                        <a:rPr lang="en-IN" sz="1600" dirty="0"/>
                        <a:t>±65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278.9</a:t>
                      </a:r>
                      <a:r>
                        <a:rPr lang="en-IN" sz="1600" dirty="0"/>
                        <a:t>±28.0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329184" y="4937760"/>
            <a:ext cx="1152144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548640" y="49834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Units: </a:t>
            </a: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 and RMSE in cfs; R² equals Nash–Sutcliffe Efficiency. Peak = observed flow above 1500 cfs.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configuration: </a:t>
            </a: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= 3, n = 2, hidden = (16,8), best epoch =200.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vs Predicted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sp>
        <p:nvSpPr>
          <p:cNvPr id="6" name="Shape 2"/>
          <p:cNvSpPr/>
          <p:nvPr/>
        </p:nvSpPr>
        <p:spPr>
          <a:xfrm>
            <a:off x="329184" y="1828800"/>
            <a:ext cx="11521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8E0"/>
            </a:solidFill>
            <a:prstDash val="dash"/>
          </a:ln>
        </p:spPr>
      </p:sp>
      <p:sp>
        <p:nvSpPr>
          <p:cNvPr id="7" name="Text 3"/>
          <p:cNvSpPr txBox="1"/>
          <p:nvPr/>
        </p:nvSpPr>
        <p:spPr>
          <a:xfrm>
            <a:off x="329184" y="1828800"/>
            <a:ext cx="115214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hydrograph_comparison.png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23208-ABD3-A165-C30F-F58402775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53" y="1645920"/>
            <a:ext cx="9929609" cy="4983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Differences from the Reference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1874520"/>
          <a:ext cx="11521440" cy="3840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Reference (Xiao &amp; You)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Our work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Split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 2003–2007; best model picked on 2008–2012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 2003–2006, validation 2007, untouched test 2008–2012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Rainfall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“At Collins”, source not stated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Daymet v4 gridded precipitation at the gauge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Gaps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Invalid values cleaned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Left missing; affected lag rows dropped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Standard ANN vs LSTM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ANN vs persistence and linear regression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Stated as Collins, LA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USGS 02472000 is in Covington County, Mississippi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65760"/>
            <a:ext cx="1161288" cy="5303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87952" y="109728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Work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044952" y="1581912"/>
            <a:ext cx="7616952" cy="36576"/>
          </a:xfrm>
          <a:prstGeom prst="rect">
            <a:avLst/>
          </a:prstGeom>
          <a:solidFill>
            <a:srgbClr val="33CCCC"/>
          </a:solidFill>
          <a:ln/>
        </p:spPr>
      </p:sp>
      <p:sp>
        <p:nvSpPr>
          <p:cNvPr id="6" name="Shape 2"/>
          <p:cNvSpPr/>
          <p:nvPr/>
        </p:nvSpPr>
        <p:spPr>
          <a:xfrm>
            <a:off x="329184" y="18288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181344" y="18288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0033C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196596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8E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simple ANN forecasts daily streamflow from past rainfall and flow alone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is leak-free: chronological split, train-only scaling, test years used once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Compared against persistence and linear regression baselines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Errors are expected to be largest at peak flows (as in the reference)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196596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stations and basins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 inputs such as temperature and soil moisture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architectures (LSTM, deeper networks)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factor or asymmetric loss to avoid under-predicting peaks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1235</Words>
  <Application>Microsoft Office PowerPoint</Application>
  <PresentationFormat>Widescreen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ANN in Streamflow Forecasting</dc:title>
  <dc:subject>PptxGenJS Presentation</dc:subject>
  <dc:creator>PptxGenJS</dc:creator>
  <cp:lastModifiedBy>Murali R</cp:lastModifiedBy>
  <cp:revision>3</cp:revision>
  <dcterms:created xsi:type="dcterms:W3CDTF">2026-10-05T12:38:47Z</dcterms:created>
  <dcterms:modified xsi:type="dcterms:W3CDTF">2026-10-05T13:29:54Z</dcterms:modified>
</cp:coreProperties>
</file>